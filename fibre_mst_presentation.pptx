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F0FF"/>
                </a:solidFill>
              </a:defRPr>
            </a:pPr>
            <a:r>
              <a:t>ALGORITHM DESIGN &amp; OPTIMIZATION</a:t>
            </a:r>
          </a:p>
          <a:p>
            <a:pPr>
              <a:spcAft>
                <a:spcPts val="1200"/>
              </a:spcAft>
              <a:defRPr sz="3200" b="1">
                <a:solidFill>
                  <a:srgbClr val="F1F5F9"/>
                </a:solidFill>
              </a:defRPr>
            </a:pPr>
            <a:r>
              <a:t>Fibre Optic Network Design Using Prim's Algorithm</a:t>
            </a:r>
          </a:p>
          <a:p>
            <a:pPr>
              <a:spcAft>
                <a:spcPts val="3600"/>
              </a:spcAft>
              <a:defRPr sz="1500">
                <a:solidFill>
                  <a:srgbClr val="94A3B8"/>
                </a:solidFill>
              </a:defRPr>
            </a:pPr>
            <a:r>
              <a:t>Interactive Single-Screen Minimum Spanning Tree (MST) Visualizer &amp; Real-World Infrastructure Modeling</a:t>
            </a:r>
          </a:p>
          <a:p>
            <a:pPr>
              <a:defRPr sz="1200" b="1">
                <a:solidFill>
                  <a:srgbClr val="00FF88"/>
                </a:solidFill>
              </a:defRPr>
            </a:pPr>
            <a:r>
              <a:t>Presented by: Team of 3  •  Duration: 10 Minutes  •  Live System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F0FF"/>
                </a:solidFill>
              </a:defRPr>
            </a:pPr>
            <a:r>
              <a:t>SPEAKER 1  |  0:00 - 1:15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Real-World Engineering Motivation: Telecom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1. The High Cost of Cable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Trenching &amp; laying optical fiber costs between ₹50,000 to ₹1,00,000 per kilometer.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Budget constraints demand zero redundant cycles in the primary backbone.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Every superfluous route wastefully burns millions of rupees in public infrastructure capex.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F88"/>
                </a:solidFill>
              </a:defRPr>
            </a:pPr>
            <a:r>
              <a:t>2. Full Interconnectivity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All district administrative hubs and tech parks must be interconnected.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Communication packets must travel between any city pair without network partition.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Graph requirement: Connected, undirected weighted graph G = (V, 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800"/>
                </a:solidFill>
              </a:defRPr>
            </a:pPr>
            <a:r>
              <a:t>3. Real Case: KFON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Modeled directly after the Kerala Fibre Optic Network (KFON).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Connects 14 regional district headquarters from Trivandrum to Kannur.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Demonstrates how graph theory delivers tangible societal &amp; financial ROI.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F0FF"/>
                </a:solidFill>
              </a:defRPr>
            </a:pPr>
            <a:r>
              <a:t>SPEAKER 1  |  1:15 - 2:15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Theoretical Foundation: MST &amp; The Cut Property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The Cut Property (Greedy Core)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Formal Definition: For any partition (cut) of vertices into sets S and V \ S, the minimum-weight edge crossing the cut belongs to the MST.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Greedy Invariant: At each iteration, Prim's grows a tree T from a single start vertex.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The crossing edge (u ∈ T, v ∉ T) with minimum weight is safe to add without creating loops.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Optimality Proof: Guaranteed global minimum total weight by induction.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F88"/>
                </a:solidFill>
              </a:defRPr>
            </a:pPr>
            <a:r>
              <a:t>Tree Properties in Telecom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Exactly |V| - 1 Cables: An 8-city regional grid requires exactly 7 optical connections.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Acyclic Guarantee: Zero routing loops, eliminating broadcast storms in optical switches.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Start-Node Invariance: Starting from Central Metro, North Gateway, or Kochi yields the exact same total cost.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Minimum Total Cost: sum(w_e) for all e in T is minimized across all 2^E spanning subgraphs.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F0FF"/>
                </a:solidFill>
              </a:defRPr>
            </a:pPr>
            <a:r>
              <a:t>SPEAKER 1  |  2:15 - 3:00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Algorithm Comparison: Prim's vs. Kruskal's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Why Prim's for Telecom Metro Networks?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Core Paradigm: Vertex-centric growth (Prim's expands outward from a single active telecom hub) vs. Edge-centric forest merging (Kruskal's sorts all cables globally).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Operational Realism: Optical cables are deployed outward from an initial central exchange point (Hub-and-Spoke expansion). You don't lay isolated cables between remote towns before connecting the core.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Graph Density Advantage: For dense urban meshes (E ≈ V²), Prim's with Fibonacci heap achieves O(E + V log V), outperforming Kruskal's O(E log E) sorting step.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Data Structure: Prim's utilizes a Min-Priority Queue (Binary Heap) tracking candidate frontiers, whereas Kruskal's relies on a Disjoint Set Union (Union-Find) with path compression.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Handoff Note: Speaker 2 will now explain how our application translates this mathematical engine into a deterministic single-screen visualizer.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F0FF"/>
                </a:solidFill>
              </a:defRPr>
            </a:pPr>
            <a:r>
              <a:t>SPEAKER 2  |  3:00 - 4:00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Software Architecture: Static Zero-Build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1. Separation of Concerns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Computation vs. Animation: Prim's runs synchronously once, creating immutable chronological snapshots.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The player engine acts strictly as a deterministic state player over the snapshot array.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Guarantees seamless Step Forward, Step Back, Scrubber jump, and Play/Pause.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F88"/>
                </a:solidFill>
              </a:defRPr>
            </a:pPr>
            <a:r>
              <a:t>2. Single-Screen Viewport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100vh Zero-Scroll UI: The visualizer never forces page scrolling.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Canvas on the left, Code Viewer &amp; Priority Queue Inspector on the right.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Docked bottom-right player controls remain pinned and accessible at all times.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84FC"/>
                </a:solidFill>
              </a:defRPr>
            </a:pPr>
            <a:r>
              <a:t>3. Zero-Build Portability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100% Vanilla JS, HTML5, and CSS3. Zero webpack, zero npm build dependencies.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Runs instantly via double-click on index.html over file:// protocols.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UMD module exports allow 100% automated headless unit testing in Node.js.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F0FF"/>
                </a:solidFill>
              </a:defRPr>
            </a:pPr>
            <a:r>
              <a:t>SPEAKER 2  |  4:00 - 5:15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Core Data Structures: Priority Queue &amp; Snapshot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Binary Min-Heap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Custom MinHeap class storing candidate edges: { edgeId, u, v, w }.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Push Operation: O(log N) bubble-up preserving the min-heap parent invariant.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Pop Operation: O(log N) extract-min retrieving the cheapest optical cable.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Non-destructive Inspection: getSortedItems() provides live sorted preview for the UI table without modifying heap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F88"/>
                </a:solidFill>
              </a:defRPr>
            </a:pPr>
            <a:r>
              <a:t>Immutable Snapshot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step &amp; action: Tracks phase ('startVisit', 'popMin', 'addToMst', 'skipVisited').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status: Triggers UI visual badges ('candidate', 'considered', 'added', 'rejected', 'done').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cityOrder: Chronological arrival ledger recording exact order #1 through #V.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activeLine: Synchronizes exact highlighted code line across JS, Python, C++, and Java.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telemetry: Running cable length, capital capex budget in ₹, and visited 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F0FF"/>
                </a:solidFill>
              </a:defRPr>
            </a:pPr>
            <a:r>
              <a:t>SPEAKER 2  |  5:15 - 6:30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Step-by-Step Visualization: Optical Edge States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Visual State Language on the Interactive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🌟 CHOSEN (Laser Emerald #00ff88): Selected MST branch. High-intensity glowing line with flowing dash animation. Badge displays sequence rank (e.g., '#1 • 15 km').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🟡 EVALUATING (Laser Amber #ffb800): Currently popped minimum candidate cable under inspection. Amber pulsing glow signals algorithmic decision-making.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🔵 CANDIDATE (Laser Cyan #00f0ff): Waiting inside the Min-Priority Queue. Dashed laser beam representing available cut-crossing cables.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🔴 CYCLE REJECTED (Laser Ruby #ef4444): Discarded redundant route. Red dashed line explaining that destination city has already joined the network cut.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⚪ OMITTED (Subdued Slate #1e293b): Preserved ring/mesh cross-connects shown faintly with '(Omitted)' tags to demonstrate loop-free spanning tree.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Handoff Note: Speaker 3 will now explain our major engineering breakthroughs, mathematical complexity, and business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F0FF"/>
                </a:solidFill>
              </a:defRPr>
            </a:pPr>
            <a:r>
              <a:t>SPEAKER 3  |  6:30 - 7:45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Key Technical Challenges &amp; Engineering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1. The SVG Zero-Area Filter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Bug: Perfectly vertical cables (x1 === x2, Central Metro to North Gateway) completely vanished from the screen.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Root Cause: SVG objectBoundingBox filter calculates 0-width bounding box, clipping pixels to zero.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Solution: Replaced inline SVG filters with CSS drop-shadow, guaranteeing 100% stroke visibility across all angles.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F88"/>
                </a:solidFill>
              </a:defRPr>
            </a:pPr>
            <a:r>
              <a:t>2. Topology Spoke Symmetry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Discovered missing cross-connect cables in the Regional Ring &amp; Mesh preset.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Engineered e13 (Central Metro ↔ West Valley, 20 km) and e14 (Central Metro ↔ Northeast Tech, 23 km).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Completed full radial spoke symmetry across all 7 outer ring cities with zero badge overlap.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84FC"/>
                </a:solidFill>
              </a:defRPr>
            </a:pPr>
            <a:r>
              <a:t>3. Responsive Viewport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Decoupled panel scrolling architecture (Visualizer locked at 100vh, Theory &amp; Quiz fully scrollable).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Progressive breakpoints (1240px, 1040px, 820px) preventing top-bar control overflow.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Dropdown text truncation with ellipsis ensuring pristine presentation on any laptop or projector.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F0FF"/>
                </a:solidFill>
              </a:defRPr>
            </a:pPr>
            <a:r>
              <a:t>SPEAKER 3  |  7:45 - 8:30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Asymptotic Complexity &amp; Data Structure Efficiency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Time Complexity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Building Adjacency List: O(V + E) upfront mapping.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Heap Insertions: Every edge is enqueued at most twice (undirected) -&gt; 2|E| insertions -&gt; O(E log V).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Heap Extractions: Extract-min performed for every candidate edge -&gt; O(E log V).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Total Time Complexity: O((V + E) log V).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Dense Graphs vs Sparse: In regional telecom grids (sparse, E = O(V)), time reduces to O(V log V).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F88"/>
                </a:solidFill>
              </a:defRPr>
            </a:pPr>
            <a:r>
              <a:t>Space Complexity &amp; Invariant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Priority Queue Storage: O(E) maximum capacity in worst-case dense mesh.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Visited Set &amp; City Order: O(V) memory space.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Total Space Complexity: O(V + E).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Disconnected Graph Graceful Handling: Automatically detects unvisited components and yields a Spanning Forest.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Verified Invariance: Automated tests verify identical MST cost regardless of starting hub.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F0FF"/>
                </a:solidFill>
              </a:defRPr>
            </a:pPr>
            <a:r>
              <a:t>SPEAKER 3  |  8:30 - 9:15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Economic Optimization: Trenching Capex &amp;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Capital Budget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Live Indian Rupee (₹) Trenching Counter: Configurable cost per kilometer (default ₹50,000/km).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Kerala KFON Case Study: Baseline full mesh requires 1,200+ km of trenching.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Prim's MST Solution: Connects all 8 major hubs using only 510 km of optical fiber.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Financial Savings: Saves over ₹3.45 Crores ($415,000 USD) in trenching capital expenditure.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F88"/>
                </a:solidFill>
              </a:defRPr>
            </a:pPr>
            <a:r>
              <a:t>Educational &amp; Pedagogical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Multilingual Code Trace: Synchronized execution across JavaScript, Python 3, C++ STL, and Java.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10-Question Interactive Quiz: Real-time feedback with Cut Property pedagogical rationales.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Interactive Graph Editor: Students can draw custom topologies, add cities, drag nodes, and verify MST outputs.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One-Click MST Summary Report: Instant clipboard export for laboratory assignments and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F0FF"/>
                </a:solidFill>
              </a:defRPr>
            </a:pPr>
            <a:r>
              <a:t>SPEAKER 3  |  9:15 - 9:45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Project Summary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Core Achievements of our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300">
                <a:solidFill>
                  <a:srgbClr val="F1F5F9"/>
                </a:solidFill>
              </a:defRPr>
            </a:pPr>
            <a:r>
              <a:t>• Bridging Theory and Practice: Transformed an abstract textbook algorithm into a tangible, production-grade telecom engineering tool.</a:t>
            </a:r>
          </a:p>
          <a:p>
            <a:pPr>
              <a:spcAft>
                <a:spcPts val="1400"/>
              </a:spcAft>
              <a:defRPr sz="1300">
                <a:solidFill>
                  <a:srgbClr val="F1F5F9"/>
                </a:solidFill>
              </a:defRPr>
            </a:pPr>
            <a:r>
              <a:t>• Robust Software Engineering: Implemented immutable snapshot state machines, custom binary min-heaps, and resolved low-level SVG rendering engine bugs.</a:t>
            </a:r>
          </a:p>
          <a:p>
            <a:pPr>
              <a:spcAft>
                <a:spcPts val="1400"/>
              </a:spcAft>
              <a:defRPr sz="1300">
                <a:solidFill>
                  <a:srgbClr val="F1F5F9"/>
                </a:solidFill>
              </a:defRPr>
            </a:pPr>
            <a:r>
              <a:t>• Zero Dependency Architecture: Engineered a completely standalone, portable static application running seamlessly across any browser or device.</a:t>
            </a:r>
          </a:p>
          <a:p>
            <a:pPr>
              <a:spcAft>
                <a:spcPts val="1400"/>
              </a:spcAft>
              <a:defRPr sz="1300">
                <a:solidFill>
                  <a:srgbClr val="F1F5F9"/>
                </a:solidFill>
              </a:defRPr>
            </a:pPr>
            <a:r>
              <a:t>• Comprehensive Automated Verification: 12/12 unit tests validating heap integrity, invariance, cycle prevention, and disconnected graph recovery.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F0FF"/>
                </a:solidFill>
              </a:defRPr>
            </a:pPr>
            <a:r>
              <a:t>CONCLUSION &amp; DEMONSTRATION</a:t>
            </a:r>
          </a:p>
          <a:p>
            <a:pPr>
              <a:spcAft>
                <a:spcPts val="1400"/>
              </a:spcAft>
              <a:defRPr sz="3600" b="1">
                <a:solidFill>
                  <a:srgbClr val="F1F5F9"/>
                </a:solidFill>
              </a:defRPr>
            </a:pPr>
            <a:r>
              <a:t>Thank You! Questions &amp; Discussion</a:t>
            </a:r>
          </a:p>
          <a:p>
            <a:pPr>
              <a:spcAft>
                <a:spcPts val="2400"/>
              </a:spcAft>
              <a:defRPr sz="1500">
                <a:solidFill>
                  <a:srgbClr val="00FF88"/>
                </a:solidFill>
              </a:defRPr>
            </a:pPr>
            <a:r>
              <a:t>Live Demo Ready: Kerala KFON Backbone  |  Regional Ring &amp; Mesh  |  Interactive Custom Topologies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Team Members: Speaker 1 (Theory)  •  Speaker 2 (Architecture &amp; Demo)  •  Speaker 3 (Engineering &amp; Complexity)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